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Leap Year Kata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A Test-Driven Development Journey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What is a Leap Year?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• A year with an extra day (February 29th)</a:t>
            </a:r>
          </a:p>
          <a:p>
            <a:pPr>
              <a:spcBef>
                <a:spcPts val="1200"/>
              </a:spcBef>
              <a:defRPr sz="1800"/>
            </a:pPr>
            <a:r>
              <a:t>• Aligns the calendar year with the solar year</a:t>
            </a:r>
          </a:p>
          <a:p>
            <a:pPr>
              <a:spcBef>
                <a:spcPts val="1200"/>
              </a:spcBef>
              <a:defRPr sz="1800"/>
            </a:pPr>
            <a:r>
              <a:t>• Before 1582: Julian Calendar (every 4 years)</a:t>
            </a:r>
          </a:p>
          <a:p>
            <a:pPr>
              <a:spcBef>
                <a:spcPts val="1200"/>
              </a:spcBef>
              <a:defRPr sz="1800"/>
            </a:pPr>
            <a:r>
              <a:t>• After 1582: Gregorian Calendar (more accurate)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Goal: Implement is_leap_year(year) → bool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Gregorian Calendar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1️⃣  Years divisible by 400 ARE leap years</a:t>
            </a:r>
          </a:p>
          <a:p>
            <a:pPr>
              <a:spcBef>
                <a:spcPts val="1200"/>
              </a:spcBef>
              <a:defRPr sz="1800"/>
            </a:pPr>
            <a:r>
              <a:t>     Example: 2000 ✓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2️⃣  Years divisible by 100 but not 400 are NOT leap years</a:t>
            </a:r>
          </a:p>
          <a:p>
            <a:pPr>
              <a:spcBef>
                <a:spcPts val="1200"/>
              </a:spcBef>
              <a:defRPr sz="1800"/>
            </a:pPr>
            <a:r>
              <a:t>     Example: 1900 ✗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3️⃣  Years divisible by 4 but not 100 ARE leap years</a:t>
            </a:r>
          </a:p>
          <a:p>
            <a:pPr>
              <a:spcBef>
                <a:spcPts val="1200"/>
              </a:spcBef>
              <a:defRPr sz="1800"/>
            </a:pPr>
            <a:r>
              <a:t>     Example: 2016 ✓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4️⃣  Years not divisible by 4 are NOT leap years</a:t>
            </a:r>
          </a:p>
          <a:p>
            <a:pPr>
              <a:spcBef>
                <a:spcPts val="1200"/>
              </a:spcBef>
              <a:defRPr sz="1800"/>
            </a:pPr>
            <a:r>
              <a:t>     Example: 2017 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Our TDD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🔴 RED: Write a failing test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🟢 GREEN: Write the simplest code to pass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🔵 REFACTOR: Improve the code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📝 COMMIT: Document the progress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🔁 REPEAT: One test at a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The Four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Phase A: Non-leap years (2017, 2018, 2019)</a:t>
            </a:r>
          </a:p>
          <a:p>
            <a:pPr>
              <a:spcBef>
                <a:spcPts val="1200"/>
              </a:spcBef>
              <a:defRPr sz="1800"/>
            </a:pPr>
            <a:r>
              <a:t>         → Start simple: return False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Phase B: Basic leap years (2016, 2012, 2008)</a:t>
            </a:r>
          </a:p>
          <a:p>
            <a:pPr>
              <a:spcBef>
                <a:spcPts val="1200"/>
              </a:spcBef>
              <a:defRPr sz="1800"/>
            </a:pPr>
            <a:r>
              <a:t>         → Add: if year % 4 == 0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Phase C: Century exceptions (1900, 1800, 1700, 2100)</a:t>
            </a:r>
          </a:p>
          <a:p>
            <a:pPr>
              <a:spcBef>
                <a:spcPts val="1200"/>
              </a:spcBef>
              <a:defRPr sz="1800"/>
            </a:pPr>
            <a:r>
              <a:t>         → Add: if year % 100 == 0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Phase D: 400-year rule (2000, 2400, 1600)</a:t>
            </a:r>
          </a:p>
          <a:p>
            <a:pPr>
              <a:spcBef>
                <a:spcPts val="1200"/>
              </a:spcBef>
              <a:defRPr sz="1800"/>
            </a:pPr>
            <a:r>
              <a:t>         → Add: if year % 400 ==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Phase A: Test 2017 → False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4336"/>
                </a:solidFill>
              </a:defRPr>
            </a:pPr>
            <a:r>
              <a:t>🔴 RED: Test fails (returns None)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680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🟢 GREEN: Production Code</a:t>
            </a:r>
          </a:p>
          <a:p>
            <a:pPr>
              <a:spcBef>
                <a:spcPts val="400"/>
              </a:spcBef>
              <a:defRPr sz="1400">
                <a:latin typeface="Courier New"/>
              </a:defRPr>
            </a:pPr>
            <a:r>
              <a:t>def is_leap_year(year):</a:t>
            </a:r>
          </a:p>
          <a:p>
            <a:pPr>
              <a:spcBef>
                <a:spcPts val="400"/>
              </a:spcBef>
              <a:defRPr sz="1400">
                <a:latin typeface="Courier New"/>
              </a:defRPr>
            </a:pPr>
            <a:r>
              <a:t>    return False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7680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💡 Learning: "Fake it till you make it" - start with hardcoded values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640080" y="1554480"/>
            <a:ext cx="7863840" cy="4754880"/>
          </a:xfrm>
          <a:prstGeom prst="rect">
            <a:avLst/>
          </a:prstGeom>
          <a:solidFill>
            <a:srgbClr val="2B2B2B"/>
          </a:solidFill>
          <a:ln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Phase A: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✅ 3 tests passing | Production: return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def test_2017_is_not_leap_year():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assert is_leap_year(2017) is False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def test_2018_is_not_leap_year():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assert is_leap_year(2018) is False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def test_2019_is_not_leap_year():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assert is_leap_year(2019) is False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Phase B: Test 2016 → True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4336"/>
                </a:solidFill>
              </a:defRPr>
            </a:pPr>
            <a:r>
              <a:t>🔴 RED: Test fails (returns False, expected True)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680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🟢 GREEN: Production Code</a:t>
            </a:r>
          </a:p>
          <a:p>
            <a:pPr>
              <a:spcBef>
                <a:spcPts val="400"/>
              </a:spcBef>
              <a:defRPr sz="1400">
                <a:latin typeface="Courier New"/>
              </a:defRPr>
            </a:pPr>
            <a:r>
              <a:t>def is_leap_year(year):</a:t>
            </a:r>
          </a:p>
          <a:p>
            <a:pPr>
              <a:spcBef>
                <a:spcPts val="400"/>
              </a:spcBef>
              <a:defRPr sz="1400">
                <a:latin typeface="Courier New"/>
              </a:defRPr>
            </a:pPr>
            <a:r>
              <a:t>    if year % 4 == 0:</a:t>
            </a:r>
          </a:p>
          <a:p>
            <a:pPr>
              <a:spcBef>
                <a:spcPts val="400"/>
              </a:spcBef>
              <a:defRPr sz="1400">
                <a:latin typeface="Courier New"/>
              </a:defRPr>
            </a:pPr>
            <a:r>
              <a:t>        return True</a:t>
            </a:r>
          </a:p>
          <a:p>
            <a:pPr>
              <a:spcBef>
                <a:spcPts val="400"/>
              </a:spcBef>
              <a:defRPr sz="1400">
                <a:latin typeface="Courier New"/>
              </a:defRPr>
            </a:pPr>
            <a:r>
              <a:t>    return False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7680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💡 Learning: Tests force us to implement real logic, not hardcoded values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640080" y="1554480"/>
            <a:ext cx="7863840" cy="4754880"/>
          </a:xfrm>
          <a:prstGeom prst="rect">
            <a:avLst/>
          </a:prstGeom>
          <a:solidFill>
            <a:srgbClr val="2B2B2B"/>
          </a:solidFill>
          <a:ln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Phase B: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✅ 6 tests passing | Triangulation confirms modulo 4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def test_2016_is_leap_year():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assert is_leap_year(2016) is True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def test_2012_is_leap_year():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assert is_leap_year(2012) is True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def test_2008_is_leap_year():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assert is_leap_year(2008) is True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Phase C: Test 1900 → False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4336"/>
                </a:solidFill>
              </a:defRPr>
            </a:pPr>
            <a:r>
              <a:t>🔴 RED: Test fails (returns True, expected False)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680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🟢 GREEN: Production Code</a:t>
            </a:r>
          </a:p>
          <a:p>
            <a:pPr>
              <a:spcBef>
                <a:spcPts val="400"/>
              </a:spcBef>
              <a:defRPr sz="1400">
                <a:latin typeface="Courier New"/>
              </a:defRPr>
            </a:pPr>
            <a:r>
              <a:t>if year % 100 == 0 and year % 400 != 0:</a:t>
            </a:r>
          </a:p>
          <a:p>
            <a:pPr>
              <a:spcBef>
                <a:spcPts val="400"/>
              </a:spcBef>
              <a:defRPr sz="1400">
                <a:latin typeface="Courier New"/>
              </a:defRPr>
            </a:pPr>
            <a:r>
              <a:t>    return False</a:t>
            </a:r>
          </a:p>
          <a:p>
            <a:pPr>
              <a:spcBef>
                <a:spcPts val="400"/>
              </a:spcBef>
              <a:defRPr sz="1400">
                <a:latin typeface="Courier New"/>
              </a:defRPr>
            </a:pPr>
            <a:r>
              <a:t>if year % 4 == 0:</a:t>
            </a:r>
          </a:p>
          <a:p>
            <a:pPr>
              <a:spcBef>
                <a:spcPts val="400"/>
              </a:spcBef>
              <a:defRPr sz="1400">
                <a:latin typeface="Courier New"/>
              </a:defRPr>
            </a:pPr>
            <a:r>
              <a:t>    return True</a:t>
            </a:r>
          </a:p>
          <a:p>
            <a:pPr>
              <a:spcBef>
                <a:spcPts val="400"/>
              </a:spcBef>
              <a:defRPr sz="1400">
                <a:latin typeface="Courier New"/>
              </a:defRPr>
            </a:pPr>
            <a:r>
              <a:t>return False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7680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💡 Learning: Order matters! Check exceptions BEFORE general rules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640080" y="1554480"/>
            <a:ext cx="7863840" cy="4754880"/>
          </a:xfrm>
          <a:prstGeom prst="rect">
            <a:avLst/>
          </a:prstGeom>
          <a:solidFill>
            <a:srgbClr val="2B2B2B"/>
          </a:solidFill>
          <a:ln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Phase C: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✅ 10 tests passing | Century years handled correctly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def test_1900_is_not_leap_year():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assert is_leap_year(1900) is False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def test_1800_is_not_leap_year():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assert is_leap_year(1800) is False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def test_1700_is_not_leap_year():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assert is_leap_year(1700) is False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def test_2100_is_not_leap_year():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assert is_leap_year(2100) is False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Phase D: Test 2000 → True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44336"/>
                </a:solidFill>
              </a:defRPr>
            </a:pPr>
            <a:r>
              <a:t>🔴 RED: Test passes! (Logic accidentally worked)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680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🟢 GREEN: Production Code</a:t>
            </a:r>
          </a:p>
          <a:p>
            <a:pPr>
              <a:spcBef>
                <a:spcPts val="400"/>
              </a:spcBef>
              <a:defRPr sz="1400">
                <a:latin typeface="Courier New"/>
              </a:defRPr>
            </a:pPr>
            <a:r>
              <a:t># Refactored for clarity:</a:t>
            </a:r>
          </a:p>
          <a:p>
            <a:pPr>
              <a:spcBef>
                <a:spcPts val="400"/>
              </a:spcBef>
              <a:defRPr sz="1400">
                <a:latin typeface="Courier New"/>
              </a:defRPr>
            </a:pPr>
            <a:r>
              <a:t>if year % 400 == 0:</a:t>
            </a:r>
          </a:p>
          <a:p>
            <a:pPr>
              <a:spcBef>
                <a:spcPts val="400"/>
              </a:spcBef>
              <a:defRPr sz="1400">
                <a:latin typeface="Courier New"/>
              </a:defRPr>
            </a:pPr>
            <a:r>
              <a:t>    return True</a:t>
            </a:r>
          </a:p>
          <a:p>
            <a:pPr>
              <a:spcBef>
                <a:spcPts val="400"/>
              </a:spcBef>
              <a:defRPr sz="1400">
                <a:latin typeface="Courier New"/>
              </a:defRPr>
            </a:pPr>
            <a:r>
              <a:t>if year % 100 == 0:</a:t>
            </a:r>
          </a:p>
          <a:p>
            <a:pPr>
              <a:spcBef>
                <a:spcPts val="400"/>
              </a:spcBef>
              <a:defRPr sz="1400">
                <a:latin typeface="Courier New"/>
              </a:defRPr>
            </a:pPr>
            <a:r>
              <a:t>    return False</a:t>
            </a:r>
          </a:p>
          <a:p>
            <a:pPr>
              <a:spcBef>
                <a:spcPts val="400"/>
              </a:spcBef>
              <a:defRPr sz="1400">
                <a:latin typeface="Courier New"/>
              </a:defRPr>
            </a:pPr>
            <a:r>
              <a:t>if year % 4 == 0:</a:t>
            </a:r>
          </a:p>
          <a:p>
            <a:pPr>
              <a:spcBef>
                <a:spcPts val="400"/>
              </a:spcBef>
              <a:defRPr sz="1400">
                <a:latin typeface="Courier New"/>
              </a:defRPr>
            </a:pPr>
            <a:r>
              <a:t>    return True</a:t>
            </a:r>
          </a:p>
          <a:p>
            <a:pPr>
              <a:spcBef>
                <a:spcPts val="400"/>
              </a:spcBef>
              <a:defRPr sz="1400">
                <a:latin typeface="Courier New"/>
              </a:defRPr>
            </a:pPr>
            <a:r>
              <a:t>return False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7680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💡 Learning: Make implicit logic explicit - check most specific rules first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640080" y="1554480"/>
            <a:ext cx="7863840" cy="4754880"/>
          </a:xfrm>
          <a:prstGeom prst="rect">
            <a:avLst/>
          </a:prstGeom>
          <a:solidFill>
            <a:srgbClr val="2B2B2B"/>
          </a:solidFill>
          <a:ln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Phase D: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✅ 13 tests passing | All rules implemented!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def test_2000_is_leap_year():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assert is_leap_year(2000) is True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def test_2400_is_leap_year():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assert is_leap_year(2400) is True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def test_1600_is_leap_year():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assert is_leap_year(1600) is True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640080" y="1554480"/>
            <a:ext cx="7863840" cy="4754880"/>
          </a:xfrm>
          <a:prstGeom prst="rect">
            <a:avLst/>
          </a:prstGeom>
          <a:solidFill>
            <a:srgbClr val="2B2B2B"/>
          </a:solidFill>
          <a:ln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Final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✅ 13 tests | 100% coverage | All Gregorian rules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def is_leap_year(year):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"""Determine if a year is a leap year."""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# Years divisible by 400 ARE leap years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if year % 400 == 0: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    return True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# Century years (divisible by 100) are NOT leap years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if year % 100 == 0: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    return False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# Years divisible by 4 are leap years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if year % 4 == 0: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    return True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return False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640080" y="1554480"/>
            <a:ext cx="7863840" cy="4754880"/>
          </a:xfrm>
          <a:prstGeom prst="rect">
            <a:avLst/>
          </a:prstGeom>
          <a:solidFill>
            <a:srgbClr val="2B2B2B"/>
          </a:solidFill>
          <a:ln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Alternative: Boolean Expression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Same logic, different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def is_leap_year(year):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"""Condensed version using boolean logic."""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    return (year % 4 == 0 and year % 100 != 0) or (year % 400 == 0)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# This is equivalent to: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# - Divisible by 4 AND NOT a century year, OR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# - Divisible by 400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# Both implementations are correct!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# The explicit version is more readable.</a:t>
            </a:r>
          </a:p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# The condensed version is more elegant.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Test Coverage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Phase A: Non-leap years (3 tests)</a:t>
            </a:r>
          </a:p>
          <a:p>
            <a:pPr>
              <a:spcBef>
                <a:spcPts val="1200"/>
              </a:spcBef>
              <a:defRPr sz="1800"/>
            </a:pPr>
            <a:r>
              <a:t>  2017, 2018, 2019 → False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Phase B: Basic leap years (3 tests)</a:t>
            </a:r>
          </a:p>
          <a:p>
            <a:pPr>
              <a:spcBef>
                <a:spcPts val="1200"/>
              </a:spcBef>
              <a:defRPr sz="1800"/>
            </a:pPr>
            <a:r>
              <a:t>  2016, 2012, 2008 → True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Phase C: Century exceptions (4 tests)</a:t>
            </a:r>
          </a:p>
          <a:p>
            <a:pPr>
              <a:spcBef>
                <a:spcPts val="1200"/>
              </a:spcBef>
              <a:defRPr sz="1800"/>
            </a:pPr>
            <a:r>
              <a:t>  1900, 1800, 1700, 2100 → False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Phase D: 400-year rule (3 tests)</a:t>
            </a:r>
          </a:p>
          <a:p>
            <a:pPr>
              <a:spcBef>
                <a:spcPts val="1200"/>
              </a:spcBef>
              <a:defRPr sz="1800"/>
            </a:pPr>
            <a:r>
              <a:t>  2000, 2400, 1600 → True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Total: 13 tests, 100% code coverage 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Key TDD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1. Red-Green-Refactor: Every change followed this cycle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2. Fake it till you make it: Start simple, add complexity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3. Triangulation: Multiple tests confirm general solutions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4. Small steps: One test at a time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5. Order matters: Most specific rules first (400→100→4)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6. Frequent commits: Clear history showing progression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Git Commit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fe5f47c  Phase A: Non-leap years (not divisible by 4)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23759ba  Phase B: Basic leap years (divisible by 4)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2969d65  Phase C: Century years NOT divisible by 400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bb08149  Phase D: Century years divisible by 400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Each commit includes:</a:t>
            </a:r>
          </a:p>
          <a:p>
            <a:pPr>
              <a:spcBef>
                <a:spcPts val="1200"/>
              </a:spcBef>
              <a:defRPr sz="1800"/>
            </a:pPr>
            <a:r>
              <a:t>  • Red-Green-Refactor details</a:t>
            </a:r>
          </a:p>
          <a:p>
            <a:pPr>
              <a:spcBef>
                <a:spcPts val="1200"/>
              </a:spcBef>
              <a:defRPr sz="1800"/>
            </a:pPr>
            <a:r>
              <a:t>  • Test counts and coverage</a:t>
            </a:r>
          </a:p>
          <a:p>
            <a:pPr>
              <a:spcBef>
                <a:spcPts val="1200"/>
              </a:spcBef>
              <a:defRPr sz="1800"/>
            </a:pPr>
            <a:r>
              <a:t>  • Learning points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What We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✅ TDD drives design incrementally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✅ Start simple, let tests demand complexity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✅ Rule order matters (check 400 before 100 before 4)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✅ Explicit code is better than implicit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✅ Triangulation validates general solutions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✅ Small commits create a reviewable story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Complete! 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13 tests passing | 100% coverage | 4 clear commits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